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69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B295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743200" cy="274320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∫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 for Machine Learning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rates of change, gradients, and optimization power the algorithms behind modern ML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/ Data Science Series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is a key tool in developing machine learning algorithms and models. It offers a mathematical framework for describing how machines learn and optimize their performance. It allows practitioners to analyze and improve the learning process by modeling changes in system behavior.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1F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800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fundamentally an optimization problem — and calculus is the language of change and optimization.</a:t>
            </a:r>
            <a:endParaRPr lang="en-US" sz="1400" dirty="0"/>
          </a:p>
        </p:txBody>
      </p:sp>
      <p:pic>
        <p:nvPicPr>
          <p:cNvPr id="8" name="Image 0" descr="/home/claude/work/images/intro_deriv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486400" cy="2816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42976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describes the slope of a function at a point — the foundation of every optimization method in ML.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Calculus Important in 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is important because it enables: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27000" dist="38100" dir="5400000" algn="bl" rotWithShape="0">
              <a:srgbClr val="1B295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882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9888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algorithms like gradient descent to minimize or maximize cost functions.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27000" dist="38100" dir="5400000" algn="bl" rotWithShape="0">
              <a:srgbClr val="1B295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75020" y="237744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8750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Algorithms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40690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explain how algorithms work internally, such as backpropagation in neural networks.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201168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27000" dist="38100" dir="5400000" algn="bl" rotWithShape="0">
              <a:srgbClr val="1B295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76122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7612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49640" y="3383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Approximation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95360" y="406908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exact solutions aren't possible, to approximate functions mathematically.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Calculus Concepts for Machine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52160" y="16002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a function's output changes with respect to its input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Derivatives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25603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differentiation to functions of multiple variables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3520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&amp; Gradient Descent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852160" y="35204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of partial derivatives used to find a function's minimum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44805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Rule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52160" y="44805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derivative of composite functions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32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54480" y="5440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Jacobian &amp; Hessian Matrices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52160" y="54406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 and second-order partial derivatives in matrix form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measures how a function's output changes with respect to its input. In machine learning, it is used to: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gradients in gradient descent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cost functions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small input changes affect predictions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46268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6268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61872" y="46268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differentiation.py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sympy as sp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sp.Symbol('x')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x**3 + 2*x**2 + 1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df_dx = sp.diff(f, x)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print(df_dx)  # 3*x**2 + 4*x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486400" cy="5120640"/>
          </a:xfrm>
          <a:prstGeom prst="roundRect">
            <a:avLst>
              <a:gd name="adj" fmla="val 1429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numerical_derivative.py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73736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f(x):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x**3 + 2*x**2 + 1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derivative(f, x, h=1e-5):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(f(x + h) - f(x - h)) / (2*h)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2.0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 = derivative(f, x0)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print(f'Slope at x={x0}: {slope:.4f}')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Slope at x=2.0: 20.0000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Gradient descent step using the derivative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0.01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x0 - lr * derivative(f, x0)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Derivatives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 extend differentiation to functions of multiple variables, measuring how the function changes as one variable changes while others stay constant. They are important in: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Multivariable optimization problems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models with multiple parameters (like neural networks)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F1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2628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f(x, y):  ∂f/∂x holds y constant, ∂f/∂y holds x constant.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the gradient vector ∇f = [∂f/∂x, ∂f/∂y].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partial_derivatives.py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sympy as sp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sp.symbols('x y')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x**2 * y + sp.sin(y) * x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df_dx = sp.diff(f, x)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df_dy = sp.diff(f, y)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print('df/dx =', df_dx)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print('df/dy =', df_dy)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df/dx = 2*x*y + sin(y)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df/dy = x**2 + x*cos(y)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Gradient vector at a point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 = sp.Matrix([df_dx, df_dy])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print(grad.subs({x: 1, y: 0}))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and Gradient Descent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a vector of partial derivatives showing the direction of the steepest ascent of a function. Gradient descent uses this gradient to find the function's minimum by: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model parameters in the opposite direction of the gradient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minimizing the cost function during training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DF6E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6177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B2951"/>
                </a:solidFill>
              </a:rPr>
              <a:t>Update rule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B29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θ_new = θ_old − α · ∇J(θ)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C"/>
                </a:solidFill>
              </a:rPr>
              <a:t>where α is the learning rate and ∇J(θ) is the gradient of the cost function.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gradient_descent.py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Cost function: J(theta) = (theta - 3)^2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cost(theta):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(theta - 3) ** 2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gradient(theta):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 * (theta - 3)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0.0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0.1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 in range(20):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 = gradient(theta)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theta = theta - lr * grad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step % 5 == 0: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print(f'step {step}: theta={theta:.3f}, J={cost(theta):.3f}')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print('Converged theta:', round(theta, 3))  # ~3.0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3949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fontAlgn="base"/>
            <a:r>
              <a:rPr lang="en-US" sz="1400" dirty="0">
                <a:solidFill>
                  <a:srgbClr val="3341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chain rule computes the derivative of composite functions. It is essential in: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chain rule is a way to find the derivative of composite functions. It allows us to differentiate complex expressions by differentiating the outer function and then multiplying by the derivative of the inner function.</a:t>
            </a:r>
          </a:p>
          <a:p>
            <a:pPr algn="just"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53949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Backpropagation, where derivatives are chained through layers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gradients efficiently in deep learning models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94960" cy="2880360"/>
          </a:xfrm>
          <a:prstGeom prst="roundRect">
            <a:avLst>
              <a:gd name="adj" fmla="val 2540"/>
            </a:avLst>
          </a:prstGeom>
          <a:solidFill>
            <a:srgbClr val="E8F1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74904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951"/>
                </a:solidFill>
              </a:rPr>
              <a:t>Rule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C"/>
                </a:solidFill>
              </a:rPr>
              <a:t>If y = f(g(x)), then: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B29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dy/dx = f'(g(x)) · g'(x)
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C"/>
                </a:solidFill>
              </a:rPr>
              <a:t>In a neural network, this chains layer-by-layer to compute how the loss changes with respect to every weight.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486400" cy="502920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chain_rule.py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sympy as sp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sp.Symbol('x')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2*x + 1               # inner function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sp.sin(g)             # outer function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dfdx = sp.diff(f, x)      # chain rule applied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print(dfdx)  # 2*cos(2*x + 1)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Manual chain rule for a tiny 2-layer network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sigmoid(z): return 1 / (1 + np.exp(-z))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x_in, b = 0.5, 2.0, 0.1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w * x_in + b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sigmoid(z)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dL/dw = dL/da * da/dz * dz/dw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da_dz = a * (1 - a)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dz_dw = x_in</a:t>
            </a:r>
            <a:endParaRPr lang="en-US" sz="122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2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dL_dw = 1.0 * da_dz * dz_dw   # chained gradient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282D7-1BA8-2108-2862-736BEAAE69B1}"/>
              </a:ext>
            </a:extLst>
          </p:cNvPr>
          <p:cNvSpPr txBox="1"/>
          <p:nvPr/>
        </p:nvSpPr>
        <p:spPr>
          <a:xfrm>
            <a:off x="627529" y="582705"/>
            <a:ext cx="102645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just" fontAlgn="base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chain rule is widely used in mathematics to find the differentiation of complex functions. Some of its uses are discussed below,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rate of change of the pressure with respect to time.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rate of change of the average molecular speed.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if the given function is increasing or decreasing.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finding the rate of change of distance between two moving objects,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Jacobian and Hessian Matrices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B295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Jacobian Matrix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first-order partial derivatives of a vector-valued function.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25400" dir="5400000" algn="bl" rotWithShape="0">
              <a:srgbClr val="1B295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Hessian Matrix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second-order partial derivatives of a scalar-valued function.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analyzing curvature of cost functions and implementing advanced optimization techniques like Newton's method.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jacobian_hessian.py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sympy as sp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sp.symbols('x y')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Vector-valued function -&gt; Jacobian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sp.Matrix([x**2 + y, sp.sin(x) * y])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F.jacobian([x, y])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print('Jacobian:'); print(J)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Scalar function -&gt; Hessian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x**2 * y + y**3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sp.hessian(f, (x, y))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print('Hessian:'); print(H)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Newton's method update direction</a:t>
            </a:r>
            <a:endParaRPr lang="en-US" sz="127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7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theta_new = theta - H_inv @ gradient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B295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7324A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2103120"/>
            <a:ext cx="1280160" cy="1280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21031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Calculus in Machine Learning Algorithms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 ·  Logistic Regression  ·  Neural Networks  ·  Support Vector Machines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86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73152"/>
            <a:ext cx="10607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3000" dirty="0"/>
          </a:p>
        </p:txBody>
      </p:sp>
      <p:pic>
        <p:nvPicPr>
          <p:cNvPr id="5" name="Image 0" descr="/home/claude/work/images/linear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29554"/>
            <a:ext cx="5394960" cy="27163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/>
              <p:cNvSpPr/>
              <p:nvPr/>
            </p:nvSpPr>
            <p:spPr>
              <a:xfrm>
                <a:off x="548640" y="3845860"/>
                <a:ext cx="5394960" cy="26006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228600" indent="-228600">
                  <a:spcAft>
                    <a:spcPts val="1000"/>
                  </a:spcAft>
                  <a:buSzPct val="100000"/>
                  <a:buChar char="•"/>
                </a:pPr>
                <a:r>
                  <a:rPr lang="en-US" sz="1350" dirty="0">
                    <a:solidFill>
                      <a:srgbClr val="3341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Uses calculus to derive the normal equations for the least squares solution</a:t>
                </a:r>
                <a:endParaRPr lang="en-US" sz="1350" dirty="0"/>
              </a:p>
              <a:p>
                <a:pPr marL="228600" indent="-228600">
                  <a:spcAft>
                    <a:spcPts val="1000"/>
                  </a:spcAft>
                  <a:buSzPct val="100000"/>
                  <a:buChar char="•"/>
                </a:pPr>
                <a:r>
                  <a:rPr lang="en-US" sz="1350" dirty="0">
                    <a:solidFill>
                      <a:srgbClr val="3341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Differentiation provides equations to solve for model parameters directly</a:t>
                </a:r>
              </a:p>
              <a:p>
                <a:pPr algn="just" fontAlgn="base"/>
                <a:r>
                  <a:rPr lang="en-US" sz="1350" b="1" dirty="0">
                    <a:cs typeface="Times New Roman" panose="02020603050405020304" pitchFamily="18" charset="0"/>
                  </a:rPr>
                  <a:t>How Do You Calculate Least Square?</a:t>
                </a:r>
              </a:p>
              <a:p>
                <a:pPr algn="just" fontAlgn="base"/>
                <a:r>
                  <a:rPr lang="en-US" sz="1350" dirty="0">
                    <a:cs typeface="Times New Roman" panose="02020603050405020304" pitchFamily="18" charset="0"/>
                  </a:rPr>
                  <a:t>To calculate the least squares solution, you typically need to:</a:t>
                </a:r>
              </a:p>
              <a:p>
                <a:pPr algn="just" fontAlgn="base"/>
                <a:r>
                  <a:rPr lang="en-US" sz="1350" b="1" dirty="0">
                    <a:cs typeface="Times New Roman" panose="02020603050405020304" pitchFamily="18" charset="0"/>
                  </a:rPr>
                  <a:t>Choose the model form:</a:t>
                </a:r>
                <a:r>
                  <a:rPr lang="en-US" sz="1350" dirty="0">
                    <a:cs typeface="Times New Roman" panose="02020603050405020304" pitchFamily="18" charset="0"/>
                  </a:rPr>
                  <a:t> Decide on the type of equation you believe best fits the data (e.g., a straight line, y = mx + c).</a:t>
                </a:r>
              </a:p>
              <a:p>
                <a:pPr algn="just" fontAlgn="base"/>
                <a:r>
                  <a:rPr lang="en-US" sz="1350" b="1" dirty="0">
                    <a:cs typeface="Times New Roman" panose="02020603050405020304" pitchFamily="18" charset="0"/>
                  </a:rPr>
                  <a:t>Calculate the residuals: </a:t>
                </a:r>
                <a:r>
                  <a:rPr lang="en-US" sz="1350" dirty="0">
                    <a:cs typeface="Times New Roman" panose="02020603050405020304" pitchFamily="18" charset="0"/>
                  </a:rPr>
                  <a:t>Find the differences between the observed values and the values predicted by your model: 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350" b="0">
                        <a:cs typeface="Times New Roman" panose="02020603050405020304" pitchFamily="18" charset="0"/>
                      </a:rPr>
                      <m:t>residual</m:t>
                    </m:r>
                    <m:r>
                      <a:rPr lang="en-US" sz="135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350" i="1">
                            <a:cs typeface="Times New Roman" panose="02020603050405020304" pitchFamily="18" charset="0"/>
                          </a:rPr>
                          <m:t>actual</m:t>
                        </m:r>
                      </m:sub>
                    </m:sSub>
                    <m:r>
                      <a:rPr lang="ar-AE" sz="135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5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350" i="1">
                            <a:cs typeface="Times New Roman" panose="02020603050405020304" pitchFamily="18" charset="0"/>
                          </a:rPr>
                          <m:t>predicted</m:t>
                        </m:r>
                      </m:sub>
                    </m:sSub>
                  </m:oMath>
                </a14:m>
                <a:endParaRPr lang="ar-AE" sz="1350" dirty="0">
                  <a:cs typeface="Times New Roman" panose="02020603050405020304" pitchFamily="18" charset="0"/>
                </a:endParaRPr>
              </a:p>
              <a:p>
                <a:pPr algn="just" fontAlgn="base"/>
                <a:r>
                  <a:rPr lang="en-US" sz="1350" b="1" dirty="0">
                    <a:cs typeface="Times New Roman" panose="02020603050405020304" pitchFamily="18" charset="0"/>
                  </a:rPr>
                  <a:t>Square each residual and sum them up:</a:t>
                </a:r>
                <a:r>
                  <a:rPr lang="en-US" sz="1350" dirty="0">
                    <a:cs typeface="Times New Roman" panose="02020603050405020304" pitchFamily="18" charset="0"/>
                  </a:rPr>
                  <a:t> This gives the total error:  </a:t>
                </a:r>
                <a:r>
                  <a:rPr lang="en-US" sz="1350" b="1" dirty="0">
                    <a:cs typeface="Times New Roman" panose="02020603050405020304" pitchFamily="18" charset="0"/>
                  </a:rPr>
                  <a:t>Minimize the sum using calculus: </a:t>
                </a:r>
                <a:r>
                  <a:rPr lang="en-US" sz="1350" dirty="0">
                    <a:cs typeface="Times New Roman" panose="02020603050405020304" pitchFamily="18" charset="0"/>
                  </a:rPr>
                  <a:t>Take the partial derivative of S with respect to each unknown parameter (like m and c), set them equal to zero, and solve the resulting equations.</a:t>
                </a:r>
              </a:p>
              <a:p>
                <a:pPr marL="228600" indent="-228600">
                  <a:spcAft>
                    <a:spcPts val="1000"/>
                  </a:spcAft>
                  <a:buSzPct val="100000"/>
                  <a:buChar char="•"/>
                </a:pPr>
                <a:endParaRPr lang="en-US" sz="1350" dirty="0"/>
              </a:p>
            </p:txBody>
          </p:sp>
        </mc:Choice>
        <mc:Fallback xmlns="">
          <p:sp>
            <p:nvSpPr>
              <p:cNvPr id="6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845860"/>
                <a:ext cx="5394960" cy="2600660"/>
              </a:xfrm>
              <a:prstGeom prst="rect">
                <a:avLst/>
              </a:prstGeom>
              <a:blipFill>
                <a:blip r:embed="rId4"/>
                <a:stretch>
                  <a:fillRect l="-339" t="-703" r="-226" b="-2786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4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linear_regression.py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 [2], [3], [4], [5]])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np.array([2, 4, 5, 4, 5])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print('Slope:', model.coef_[0])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print('Intercept:', model.intercept_)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 equation derived via calculus: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theta = (X^T X)^-1 X^T y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 = np.c_[np.ones((5, 1)), X]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np.linalg.inv(Xb.T @ Xb) @ Xb.T @ y</a:t>
            </a:r>
            <a:endParaRPr lang="en-US" sz="123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3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print('theta (closed form):', theta)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1D42D4-3257-D506-7D61-3B851BB2DBB4}"/>
              </a:ext>
            </a:extLst>
          </p:cNvPr>
          <p:cNvSpPr txBox="1"/>
          <p:nvPr/>
        </p:nvSpPr>
        <p:spPr>
          <a:xfrm>
            <a:off x="6373906" y="411480"/>
            <a:ext cx="2088776" cy="404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15090C-D022-3B64-A405-0C3F5F524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985" y="179052"/>
            <a:ext cx="1790855" cy="419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pic>
        <p:nvPicPr>
          <p:cNvPr id="5" name="Image 0" descr="/home/claude/work/images/logistic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9496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sigmoid function to model probabilities for binary outcomes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function (log-loss) is minimized using gradient descent, which relies on derivatives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of the cost function guide parameter updates during training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logistic_regression.py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 [2], [3], [4], [5], [6]])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np.array([0, 0, 0, 1, 1, 1])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LogisticRegression()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print('Predicted probs:', model.predict_proba(X)[:, 1])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Sigmoid + gradient of log-loss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sigmoid(z): return 1 / (1 + np.exp(-z))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grad_log_loss(w, b, X, y):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X @ w + b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sigmoid(z)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dw = X.T @ (pred - y) / len(y)   # d(loss)/dw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 = np.mean(pred - y)           # d(loss)/db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dw, db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3000" dirty="0"/>
          </a:p>
        </p:txBody>
      </p:sp>
      <p:pic>
        <p:nvPicPr>
          <p:cNvPr id="5" name="Image 0" descr="/home/claude/work/images/neural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9496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heavily on calculus, especially in the backpropagation algorithm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computes the gradient of the loss function with respect to each weight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efficient weight updates during training to reduce the loss function value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backpropagation.py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sigmoid(z): return 1 / (1 + np.exp(-z))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d_sigmoid(a): return a * (1 - a)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 pass (1 hidden layer)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z1 = X @ W1 + b1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= sigmoid(z1)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z2 = a1 @ W2 + b2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sigmoid(z2)          # prediction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Backward pass -- chain rule through layers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dL_da2 = (a2 - y)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dL_dz2 = dL_da2 * d_sigmoid(a2)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dL_dW2 = a1.T @ dL_dz2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dL_da1 = dL_dz2 @ W2.T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dL_dz1 = dL_da1 * d_sigmoid(a1)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dL_dW1 = X.T @ dL_dz1</a:t>
            </a: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endParaRPr lang="en-US" sz="116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6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W1 -= lr * dL_dW1; W2 -= lr * dL_dW2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Machines (SVMs)</a:t>
            </a:r>
            <a:endParaRPr lang="en-US" sz="3000" dirty="0"/>
          </a:p>
        </p:txBody>
      </p:sp>
      <p:pic>
        <p:nvPicPr>
          <p:cNvPr id="5" name="Image 0" descr="/home/claude/work/images/sv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94960" cy="269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calculus to find the optimal separating hyperplane by maximizing the margin between classes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constrained optimization problem using Lagrange multipliers (which involve partial derivatives)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conditions are used to find the points that lie on the margin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121D3A"/>
          </a:solidFill>
          <a:ln w="12700">
            <a:solidFill>
              <a:srgbClr val="0A12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64808" y="1426464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720840" y="1426464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976872" y="1426464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737360"/>
            <a:ext cx="50292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sklearn.svm import SVC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np.array([[1, 2], [2, 3], [3, 3], [6, 5], [7, 8]])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5C7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np.array([0, 0, 0, 1, 1])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SVC(kernel='linear', C=1.0)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print('Support vectors:', model.support_vectors_)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Lagrangian: L = 1/2||w||^2 - sum(a_i*(y_i(w.x_i+b)-1))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Setting partial derivatives to zero gives: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dL/dw = 0  -&gt;  w = sum(a_i * y_i * x_i)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dL/db = 0  -&gt;  sum(a_i * y_i) = 0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model.coef_[0]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= 2 / np.linalg.norm(w)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print('Margin width:', margin)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for Machine Learning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underlies every optimization step in machine learning — from linear regression to deep neural networks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and gradients tell a model which direction to adjust its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makes backpropagation possible, chaining derivatives across layers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800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 and Hessian matrices enable advanced, curvature-aware optimization methods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2565</Words>
  <Application>Microsoft Office PowerPoint</Application>
  <PresentationFormat>Widescreen</PresentationFormat>
  <Paragraphs>341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suneetha</cp:lastModifiedBy>
  <cp:revision>5</cp:revision>
  <dcterms:created xsi:type="dcterms:W3CDTF">2026-07-29T08:26:10Z</dcterms:created>
  <dcterms:modified xsi:type="dcterms:W3CDTF">2026-07-29T09:06:01Z</dcterms:modified>
</cp:coreProperties>
</file>